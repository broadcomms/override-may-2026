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da17ec0234bad" /><Relationship Type="http://schemas.openxmlformats.org/officeDocument/2006/relationships/extended-properties" Target="/docProps/app.xml" Id="R2d00421497ca4e08" /><Relationship Type="http://schemas.openxmlformats.org/officeDocument/2006/relationships/officeDocument" Target="/ppt/presentation.xml" Id="R98773c0875c7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d2d446ac74383"/>
  </p:sldMasterIdLst>
  <p:notesMasterIdLst>
    <p:notesMasterId xmlns:r="http://schemas.openxmlformats.org/officeDocument/2006/relationships" r:id="R3861b32d8c8842db"/>
  </p:notesMasterIdLst>
  <p:sldIdLst>
    <p:sldId xmlns:r="http://schemas.openxmlformats.org/officeDocument/2006/relationships" id="256" r:id="Rde88e6eefdc44ff0"/>
    <p:sldId xmlns:r="http://schemas.openxmlformats.org/officeDocument/2006/relationships" id="257" r:id="R0ee93743763b45fd"/>
    <p:sldId xmlns:r="http://schemas.openxmlformats.org/officeDocument/2006/relationships" id="258" r:id="R6a519bb9c3fa4863"/>
    <p:sldId xmlns:r="http://schemas.openxmlformats.org/officeDocument/2006/relationships" id="259" r:id="R675ed2309fd64f31"/>
    <p:sldId xmlns:r="http://schemas.openxmlformats.org/officeDocument/2006/relationships" id="260" r:id="R9913cc405dcb4f50"/>
    <p:sldId xmlns:r="http://schemas.openxmlformats.org/officeDocument/2006/relationships" id="261" r:id="Rdc3afff99533458f"/>
    <p:sldId xmlns:r="http://schemas.openxmlformats.org/officeDocument/2006/relationships" id="262" r:id="R52918c5ec51148c6"/>
    <p:sldId xmlns:r="http://schemas.openxmlformats.org/officeDocument/2006/relationships" id="263" r:id="Re412778a2b5544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d2d446ac74383" /><Relationship Type="http://schemas.openxmlformats.org/officeDocument/2006/relationships/theme" Target="/ppt/theme/theme1.xml" Id="Ra3f0cdf85b424975" /><Relationship Type="http://schemas.openxmlformats.org/officeDocument/2006/relationships/notesMaster" Target="/ppt/notesMasters/notesMaster1.xml" Id="R3861b32d8c8842db" /><Relationship Type="http://schemas.openxmlformats.org/officeDocument/2006/relationships/presProps" Target="/ppt/presProps.xml" Id="Rf7febb7076ed4296" /><Relationship Type="http://schemas.openxmlformats.org/officeDocument/2006/relationships/viewProps" Target="/ppt/viewProps.xml" Id="R25b56b8c545144ba" /><Relationship Type="http://schemas.openxmlformats.org/officeDocument/2006/relationships/tableStyles" Target="/ppt/tableStyles.xml" Id="Rc692c1197636442b" /><Relationship Type="http://schemas.openxmlformats.org/officeDocument/2006/relationships/slide" Target="/ppt/slides/slide1.xml" Id="Rde88e6eefdc44ff0" /><Relationship Type="http://schemas.openxmlformats.org/officeDocument/2006/relationships/slide" Target="/ppt/slides/slide2.xml" Id="R0ee93743763b45fd" /><Relationship Type="http://schemas.openxmlformats.org/officeDocument/2006/relationships/slide" Target="/ppt/slides/slide3.xml" Id="R6a519bb9c3fa4863" /><Relationship Type="http://schemas.openxmlformats.org/officeDocument/2006/relationships/slide" Target="/ppt/slides/slide4.xml" Id="R675ed2309fd64f31" /><Relationship Type="http://schemas.openxmlformats.org/officeDocument/2006/relationships/slide" Target="/ppt/slides/slide5.xml" Id="R9913cc405dcb4f50" /><Relationship Type="http://schemas.openxmlformats.org/officeDocument/2006/relationships/slide" Target="/ppt/slides/slide6.xml" Id="Rdc3afff99533458f" /><Relationship Type="http://schemas.openxmlformats.org/officeDocument/2006/relationships/slide" Target="/ppt/slides/slide7.xml" Id="R52918c5ec51148c6" /><Relationship Type="http://schemas.openxmlformats.org/officeDocument/2006/relationships/slide" Target="/ppt/slides/slide8.xml" Id="Re412778a2b55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ef2a2b163e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c3f3fca1a44ed5" /><Relationship Type="http://schemas.openxmlformats.org/officeDocument/2006/relationships/notesMaster" Target="/ppt/notesMasters/notesMaster1.xml" Id="R85fba280bc09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dd3fbc4d44dbc" /><Relationship Type="http://schemas.openxmlformats.org/officeDocument/2006/relationships/notesMaster" Target="/ppt/notesMasters/notesMaster1.xml" Id="Rbae2bfd5d23743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19447e2a84a0f" /><Relationship Type="http://schemas.openxmlformats.org/officeDocument/2006/relationships/notesMaster" Target="/ppt/notesMasters/notesMaster1.xml" Id="Rb0a664bf906d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8d1d89bf648bf" /><Relationship Type="http://schemas.openxmlformats.org/officeDocument/2006/relationships/notesMaster" Target="/ppt/notesMasters/notesMaster1.xml" Id="R7b23c89b190f43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fc689c5a24d2b" /><Relationship Type="http://schemas.openxmlformats.org/officeDocument/2006/relationships/notesMaster" Target="/ppt/notesMasters/notesMaster1.xml" Id="R74c2b4160a35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85a74621d4993" /><Relationship Type="http://schemas.openxmlformats.org/officeDocument/2006/relationships/notesMaster" Target="/ppt/notesMasters/notesMaster1.xml" Id="R6629aa963e2342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9960a259724956" /><Relationship Type="http://schemas.openxmlformats.org/officeDocument/2006/relationships/notesMaster" Target="/ppt/notesMasters/notesMaster1.xml" Id="R35c63dd39bb9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942da95951406c" /><Relationship Type="http://schemas.openxmlformats.org/officeDocument/2006/relationships/notesMaster" Target="/ppt/notesMasters/notesMaster1.xml" Id="R9be6a4a09a8a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8c1e992e94b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c62c02cef3e41d1" /><Relationship Type="http://schemas.openxmlformats.org/officeDocument/2006/relationships/slideLayout" Target="/ppt/slideLayouts/slideLayout2.xml" Id="R1a94bc7067c2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94bc7067c2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f5452faae45b4" /><Relationship Type="http://schemas.openxmlformats.org/officeDocument/2006/relationships/image" Target="/ppt/media/image.png" Id="Rf3099f4236de4011" /><Relationship Type="http://schemas.openxmlformats.org/officeDocument/2006/relationships/image" Target="/ppt/media/image2.png" Id="R516443320f35449c" /><Relationship Type="http://schemas.openxmlformats.org/officeDocument/2006/relationships/notesSlide" Target="/ppt/notesSlides/notesSlide1.xml" Id="R8bbd3d28726a4e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671fddbdb4645" /><Relationship Type="http://schemas.openxmlformats.org/officeDocument/2006/relationships/image" Target="/ppt/media/image3.png" Id="Rf2ecfc0d334b4106" /><Relationship Type="http://schemas.openxmlformats.org/officeDocument/2006/relationships/notesSlide" Target="/ppt/notesSlides/notesSlide2.xml" Id="Ra92b498d595846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52f8f0f2b4750" /><Relationship Type="http://schemas.openxmlformats.org/officeDocument/2006/relationships/notesSlide" Target="/ppt/notesSlides/notesSlide3.xml" Id="R9e27570d7f4b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bde9c595e412a" /><Relationship Type="http://schemas.openxmlformats.org/officeDocument/2006/relationships/image" Target="/ppt/media/image4.png" Id="R74360c69ac69435d" /><Relationship Type="http://schemas.openxmlformats.org/officeDocument/2006/relationships/image" Target="/ppt/media/image5.png" Id="R73c9ee5a1cf74c7a" /><Relationship Type="http://schemas.openxmlformats.org/officeDocument/2006/relationships/notesSlide" Target="/ppt/notesSlides/notesSlide4.xml" Id="R57492e51f533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ecceca42a4d71" /><Relationship Type="http://schemas.openxmlformats.org/officeDocument/2006/relationships/image" Target="/ppt/media/image6.png" Id="R121d5c3e21ff48c9" /><Relationship Type="http://schemas.openxmlformats.org/officeDocument/2006/relationships/notesSlide" Target="/ppt/notesSlides/notesSlide5.xml" Id="R352dcc7a8a924b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5091d53a2d4111" /><Relationship Type="http://schemas.openxmlformats.org/officeDocument/2006/relationships/image" Target="/ppt/media/image7.png" Id="Reb532681390c4a29" /><Relationship Type="http://schemas.openxmlformats.org/officeDocument/2006/relationships/image" Target="/ppt/media/image8.png" Id="R6605f9d1f9b94705" /><Relationship Type="http://schemas.openxmlformats.org/officeDocument/2006/relationships/notesSlide" Target="/ppt/notesSlides/notesSlide6.xml" Id="R54ba3537b08a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b5c41a6b47442a" /><Relationship Type="http://schemas.openxmlformats.org/officeDocument/2006/relationships/image" Target="/ppt/media/image9.png" Id="Raaca2da4daaa44f7" /><Relationship Type="http://schemas.openxmlformats.org/officeDocument/2006/relationships/image" Target="/ppt/media/image10.png" Id="R9c9870d15485427e" /><Relationship Type="http://schemas.openxmlformats.org/officeDocument/2006/relationships/image" Target="/ppt/media/image11.png" Id="Rddc8e89038a9421d" /><Relationship Type="http://schemas.openxmlformats.org/officeDocument/2006/relationships/notesSlide" Target="/ppt/notesSlides/notesSlide7.xml" Id="R0cde32eac7a741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492fbdfb64ca3" /><Relationship Type="http://schemas.openxmlformats.org/officeDocument/2006/relationships/notesSlide" Target="/ppt/notesSlides/notesSlide8.xml" Id="R963109ea58e748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37ACD-1E90-4DB0-823D-95631C5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DB21B-EFB5-422D-82AC-684EA8C6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SUBMISSION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0B2E6-073D-4CC5-81EF-5908840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99f4236de4011"/>
          <a:stretch xmlns:a="http://schemas.openxmlformats.org/drawingml/2006/main"/>
        </p:blipFill>
        <p:spPr>
          <a:xfrm xmlns:a="http://schemas.openxmlformats.org/drawingml/2006/main">
            <a:off x="609600" y="723900"/>
            <a:ext cx="2857500" cy="95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C1B61-6160-4CDF-B597-171431A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628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Explainable race-strategy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2835-9CB8-487E-A2FA-8BADA25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rPr>
              <a:t>for the 2026 hybrid 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2C4C9-5F17-4956-8529-C1A37F1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76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Telemetry reasoning, regulation grounding, what-if exploration, and Fan Mode from one decision-support engine.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C2CE4-CFE8-46B3-81BB-8A047095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2"/>
          </a:solidFill>
          <a:ln xmlns:a="http://schemas.openxmlformats.org/drawingml/2006/main" w="9525">
            <a:solidFill>
              <a:srgbClr val="FF45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CE3BC-FA84-4E31-B4FA-931FF506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2819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Decision support, never replacement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65234-E19D-4612-A089-D5BD35F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2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32B3C-52F0-4C12-BD55-3AEB46E7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71975"/>
            <a:ext cx="2914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Built on IBM Granite + watsonx.ai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6A0B2-47CF-4451-9612-D26C900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304925"/>
            <a:ext cx="35433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443320f35449c"/>
          <a:srcRect xmlns:a="http://schemas.openxmlformats.org/drawingml/2006/main" l="0" t="20676" r="0" b="20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314450"/>
            <a:ext cx="3524250" cy="2514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81821-5AE2-49E9-BF64-E7F67CAE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904D1-0103-41F7-938E-FF117DF2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TECHNOLOGIES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1B6D-6888-4AFB-AB91-EC0065F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01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FC452-7ACC-4DB3-B3CA-C147B075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29100"/>
            <a:ext cx="1657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D5215-54A8-4035-8DA6-71EB02B6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815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8BD60-F639-4564-9A23-AEC5791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101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rPr>
              <a:t>439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08E3D-6199-42CA-9E25-6418CFD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01</a:t>
            </a:r>
          </a:p>
        </p:txBody>
      </p:sp>
    </p:spTree>
    <p:extLst>
      <p:ext uri="{BB962C8B-B14F-4D97-AF65-F5344CB8AC3E}">
        <p14:creationId xmlns:p14="http://schemas.microsoft.com/office/powerpoint/2010/main" val="5993746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893D2-1B50-431B-A723-B4AA40C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46E9E-3FF5-45E8-8247-1C33444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CDE14-D5BA-4DAE-9177-00385E15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5604B-FBD6-4152-95B8-83A9D3C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2026 turns every lap into an energy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D3FE8-3287-4E40-9FC5-FA5B7DC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The hybrid system becomes a primary strategic variable, not a background modifier.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cfc0d334b4106"/>
          <a:srcRect xmlns:a="http://schemas.openxmlformats.org/drawingml/2006/main" l="0" t="327" r="0" b="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876300"/>
            <a:ext cx="323850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FFEC2-41C4-4B8F-B024-43E51D3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24710-CFBD-42A6-9B46-2A2C7FB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MGU-K 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37C87-5282-47D9-B9BB-B464E3C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rPr>
              <a:t>350 kW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9F7D7-EEFA-42BC-B993-8EB31FB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CDBD5-3E06-4FA7-BAD0-A6BCADD5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ENERGY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03983-A642-413A-84D7-ABF342F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rPr>
              <a:t>50 /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C5EFA-1F34-48C2-A05A-1C48614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45E66-7214-4FA0-A5C2-F83B2E7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DRS SUCCESSOR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22488-917F-4F4E-8823-E1242FF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BFF"/>
                </a:solidFill>
                <a:latin typeface="Aptos Display"/>
                <a:ea typeface="Aptos Display"/>
                <a:cs typeface="Aptos Display"/>
              </a:rPr>
              <a:t>Override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00F51-EC69-48C7-B532-767F810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47F6F-8828-4C0E-B2BC-020E794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TOOLING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2CE79-D182-41EF-9703-DAFA759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5484D"/>
                </a:solidFill>
                <a:latin typeface="Aptos Display"/>
                <a:ea typeface="Aptos Display"/>
                <a:cs typeface="Aptos Display"/>
              </a:rPr>
              <a:t>Open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C9CDB-2C0D-4188-A09F-34C685A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7F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F7F8"/>
                </a:solidFill>
                <a:latin typeface="Aptos"/>
                <a:ea typeface="Aptos"/>
                <a:cs typeface="Aptos"/>
              </a:rPr>
              <a:t>Race engineers, drivers, broadcasters, and fans all face the same missing layer: a way to connect telemetry, regulation, and consequence in language a human can audit.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A8422-3AFF-4607-B875-C53DE98A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OVERRIDE competes on explainability, not on pretending to replace the strategist.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86033-0E67-4EF7-9FDC-3C3625B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02</a:t>
            </a:r>
          </a:p>
        </p:txBody>
      </p:sp>
    </p:spTree>
    <p:extLst>
      <p:ext uri="{BB962C8B-B14F-4D97-AF65-F5344CB8AC3E}">
        <p14:creationId xmlns:p14="http://schemas.microsoft.com/office/powerpoint/2010/main" val="4516681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064BB-428F-458A-BE12-CCFD508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14559-5E4D-4E07-A275-5EB06FC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MARKET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8EBE7-25AE-4B5F-B84C-53BC47E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C9DD5-6230-4445-A11A-AC81B334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Telemetry shows what happened. Strategy needs why.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2FA5B-6831-4E7C-A7BF-147DE4F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Existing public racing AI was designed for the previous hybrid 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2F8C9-255A-4DB2-8DE2-BB28B8F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E1872-689E-40F5-9138-A36D616B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97BBA-29E3-436D-95BC-2A353599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26BE0-C48A-4C0F-BF85-08D5CA1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905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Need auditable support for deploy, harvest, recharge, and Override tradeoffs as regulations move.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2C43C-9056-4E15-9D99-F5A0B1AD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9EDB9-4340-40F8-976C-4F55D57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745C8-333A-4B03-A61E-F842F911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Drivers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70197-8A01-4F6F-810F-7D1B468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67050"/>
            <a:ext cx="2905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Need cause-and-consequence feedback to rebuild instincts around new energy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20A5A-1F7B-4EEB-8663-D528C175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7BCBB-5ECE-428B-95BA-D00C87D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5D125-F041-4189-A451-0FAEAD4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905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Fans and broadcasters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96F5D-4D36-4C33-9938-A6DBAFB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905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Need plain-language translation of an invisible energy chess match.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7992E-9F65-4005-9288-4EA22B2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01D9A-20E2-4409-BA14-B404A1A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6F7F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6F7F8"/>
                </a:solidFill>
                <a:latin typeface="Aptos"/>
                <a:ea typeface="Aptos"/>
                <a:cs typeface="Aptos"/>
              </a:rPr>
              <a:t>Missing layer: open, regulation-grounded, explainable decision support that makes the reasoning visible before a human 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86088-2B51-4750-9146-6D3C3BA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03</a:t>
            </a:r>
          </a:p>
        </p:txBody>
      </p:sp>
    </p:spTree>
    <p:extLst>
      <p:ext uri="{BB962C8B-B14F-4D97-AF65-F5344CB8AC3E}">
        <p14:creationId xmlns:p14="http://schemas.microsoft.com/office/powerpoint/2010/main" val="1435831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5F697-294C-4F7A-B79E-5FD412D6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8DE11-D093-49DA-AAE8-CF201C2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PRODUCT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8815-442B-43CA-9329-A9CF88A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A6CA-B6CC-490F-B46D-33C433F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From live cockpit to completed debrief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0C892-5F57-4891-9F3A-CB428ED3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The video should feel like a real racing workflow, not a static analytics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A0CC7-4369-457E-80B6-D955400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4972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60c69ac69435d"/>
          <a:srcRect xmlns:a="http://schemas.openxmlformats.org/drawingml/2006/main" l="0" t="23919" r="0" b="23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571750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3EC63-3C56-4E31-B43A-621458C3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62225"/>
            <a:ext cx="4972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9ee5a1cf74c7a"/>
          <a:srcRect xmlns:a="http://schemas.openxmlformats.org/drawingml/2006/main" l="0" t="36384" r="0" b="36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571750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89563-B2EE-4F71-AC57-882D8F2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1. Live TORCS cockpit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E0718-98A8-4234-AF9C-32DB219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2. Auditable AI debrief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72FA2-D69A-4D67-B2E6-060201A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005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456A9-BC58-4B7B-A034-EB01097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766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517B-E129-413C-A1F3-16B2D5D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626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The strongest beat: the thing the judge just watched becomes a grounded explanation with safety badges.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877E7-FDF6-4ED5-BB2A-D125272F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04</a:t>
            </a:r>
          </a:p>
        </p:txBody>
      </p:sp>
    </p:spTree>
    <p:extLst>
      <p:ext uri="{BB962C8B-B14F-4D97-AF65-F5344CB8AC3E}">
        <p14:creationId xmlns:p14="http://schemas.microsoft.com/office/powerpoint/2010/main" val="1492441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DB4E1-76C0-4B79-B2A1-47D615B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1B38D-2CA3-4C10-8924-8628111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TRUST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C1DC-458F-410F-A407-5263E38F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6074E-26D5-4066-B7AA-D704F11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Explainability is 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A5213-4E71-439C-9CDC-3A1ADFB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OVERRIDE shows the reasoning, the rule, and both safety passes.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E6498-17DD-4325-9B9C-C3D7CDA3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43175"/>
            <a:ext cx="6115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5c3e21ff48c9"/>
          <a:stretch xmlns:a="http://schemas.openxmlformats.org/drawingml/2006/main"/>
        </p:blipFill>
        <p:spPr>
          <a:xfrm xmlns:a="http://schemas.openxmlformats.org/drawingml/2006/main">
            <a:off x="933660" y="2552700"/>
            <a:ext cx="5409779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0076D-7A46-475C-AD12-8FDDC9DB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400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B7E87-F201-48CB-A1DE-7FEEAFD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40FBF-F153-4A68-ABD8-1C027EA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Docling grounding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C470B-64B7-45F1-B533-6B678788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Regulation passages are parsed and rendered dynamically. No hardcoded FIA article numbers.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88352-3629-434C-A743-1327F05D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E0E58-6F73-43A9-8C0A-512647A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CFD37-C6CA-487B-953E-53BE882C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Pass 1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B0635-1B67-496A-BD07-4F4AC6F3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Deterministic checks catch citation existence, energy bounds, source consistency, and unsafe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DD317-9C82-4A56-B0A3-2FA5C825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400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9B435-D036-48EE-BADE-2CE3629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3BACF-3D75-4321-BF07-E887615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054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Pass 2 Guardian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A4E5F-5486-47E5-B911-DD1608C8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292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Granite Guardian scores custom energy-safety and regulation-consistency criteria.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CA911-B254-4CAB-BF62-AACF196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05</a:t>
            </a:r>
          </a:p>
        </p:txBody>
      </p:sp>
    </p:spTree>
    <p:extLst>
      <p:ext uri="{BB962C8B-B14F-4D97-AF65-F5344CB8AC3E}">
        <p14:creationId xmlns:p14="http://schemas.microsoft.com/office/powerpoint/2010/main" val="9466599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D5F31-D09E-4562-99FA-9CED6EF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EFA59-F090-417B-9706-C8C16092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ONE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3D1DF-75A8-4533-B061-3DC25B4F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B4EE7-22E6-4B55-8AE1-C0C5E0D7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Four audiences, one explanation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267C5-9D77-41A0-9857-ECD53D8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Engineer Mode keeps the evidence; Fan Mode makes the race legible.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61F18-FF2B-47B7-9686-96AAC29C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71725"/>
            <a:ext cx="5067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32681390c4a29"/>
          <a:srcRect xmlns:a="http://schemas.openxmlformats.org/drawingml/2006/main" l="0" t="7980" r="0" b="7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81250"/>
            <a:ext cx="50482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954A7-BE94-4BC0-AEC9-636CAF9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71725"/>
            <a:ext cx="5067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5f9d1f9b94705"/>
          <a:srcRect xmlns:a="http://schemas.openxmlformats.org/drawingml/2006/main" l="0" t="8246" r="0" b="8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381250"/>
            <a:ext cx="504825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12C67-9104-4550-AB42-EB4F35E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Engineer and driver value: test a counterfactual and review the same validation gates on the alternate strategy.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892-0AA4-4F6D-9F9E-F260ED9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531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Broadcaster and fan value: same intelligence translated into plain language without fabricating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17A6D-8BE1-485B-B1F2-3CAEA03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06</a:t>
            </a:r>
          </a:p>
        </p:txBody>
      </p:sp>
    </p:spTree>
    <p:extLst>
      <p:ext uri="{BB962C8B-B14F-4D97-AF65-F5344CB8AC3E}">
        <p14:creationId xmlns:p14="http://schemas.microsoft.com/office/powerpoint/2010/main" val="12877085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17731D-4A06-44C7-9633-4DB8F72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150B-2FB9-4409-9AE8-186365A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IMPLEMENTATION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8EA7C-FD4F-479B-826D-7E674066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12725-A5F8-4A18-845B-3996706C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Built as a reproducible AI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66E78-E847-4D2B-AEEF-95CBC0A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FastAPI runtime, React UI, TORCS sandbox, Langflow design layer, and observable spans.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892CD-7BC5-44F9-8035-940A08C5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24125"/>
            <a:ext cx="34480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a2da4daaa44f7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33650"/>
            <a:ext cx="3429000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CD781-9D9F-47FE-9342-6E202A8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24125"/>
            <a:ext cx="34480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870d15485427e"/>
          <a:stretch xmlns:a="http://schemas.openxmlformats.org/drawingml/2006/main"/>
        </p:blipFill>
        <p:spPr>
          <a:xfrm xmlns:a="http://schemas.openxmlformats.org/drawingml/2006/main">
            <a:off x="4512469" y="2533650"/>
            <a:ext cx="3167063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5D985-960F-492A-BF76-A1DBB97B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24125"/>
            <a:ext cx="34480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8e89038a9421d"/>
          <a:srcRect xmlns:a="http://schemas.openxmlformats.org/drawingml/2006/main" l="0" t="7778" r="0" b="7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533650"/>
            <a:ext cx="3429000" cy="1809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C7A24-FE03-4FEF-839A-E6972B4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45646-3F38-4BCD-AC2F-8961247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TESTS COLLECTED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B232E-DB4B-403F-81F9-920F420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C853"/>
                </a:solidFill>
                <a:latin typeface="Aptos Display"/>
                <a:ea typeface="Aptos Display"/>
                <a:cs typeface="Aptos Display"/>
              </a:rPr>
              <a:t>439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310DB-00BB-4084-AA8F-F32EB4B6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876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8C916-D693-456E-A260-22C30D4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0292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TECHNOLOGIES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AD9E0-0FB8-4EB1-81B0-74DAA168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578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500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759A4-5B11-4DF9-827E-CA5E010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DA9F3-8A50-49B9-8C61-44CCE02C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AAEE7-1CCE-4B0E-954E-8533A71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6BFF"/>
                </a:solidFill>
                <a:latin typeface="Aptos Display"/>
                <a:ea typeface="Aptos Display"/>
                <a:cs typeface="Aptos Display"/>
              </a:rPr>
              <a:t>watsonx.ai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ED801-05C1-4308-9B2C-FBA041E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76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D9DEF-EB68-4C42-90DC-8D277368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0292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9266E-4C53-479B-8FFE-10771438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25780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Apache 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BB3CB-5009-4523-B1AD-249F3E5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07</a:t>
            </a:r>
          </a:p>
        </p:txBody>
      </p:sp>
    </p:spTree>
    <p:extLst>
      <p:ext uri="{BB962C8B-B14F-4D97-AF65-F5344CB8AC3E}">
        <p14:creationId xmlns:p14="http://schemas.microsoft.com/office/powerpoint/2010/main" val="20652613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1D9AC-4FEE-4FCF-832F-E116166F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817D-00F0-4357-894D-3F3A0433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VIDEO RUN OF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AEB02-C94E-44AB-B498-5D635DE4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FD474-EC3F-4609-A326-8CF592A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The 2:55 video should make trust feel immediate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F4241-B2C9-435A-B1F5-0A0C59A8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Lead with racing motion, then prove the AI can be audited.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BB336-8EA8-473D-BD3B-8DA55B1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D7CB6-2E40-4EC2-9E15-6A64017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6C3BA-3649-4D2E-B0BD-FB0215D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3E18E-05B1-4782-A431-BE60ECF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0EB01-E603-47E2-A05C-DD92C0B0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2026 hybrid reset: every lap is an energy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C417A-70B3-4A4D-8C0D-4D4B116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C85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0C853"/>
                </a:solidFill>
                <a:latin typeface="Aptos Mono"/>
                <a:ea typeface="Aptos Mono"/>
                <a:cs typeface="Aptos Mono"/>
              </a:rPr>
              <a:t>0:40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37A83-C4A2-4848-8037-34BF7B96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157AC-D2BD-4061-84A0-2E21CA1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349F6-18A7-4DF6-AE3E-7BA5CE5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Live cockpit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72307-E2A7-410B-9B99-E5D8B95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Start race, show telemetry, hybrid rail, AI Race Engineer.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55003-585F-4477-BC12-A4FB9C90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1:18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3E59D-B4D8-4205-92BC-5228135B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76E56-CBA6-41FA-AD9D-3C156A36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B551D-AD6F-4576-B5A4-CE13A434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Debrief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6A1A4-E064-4D81-9B3E-153D04C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Ingest capture and show race report plus zones.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3ED14-24FA-446B-ABCD-5315510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50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4500"/>
                </a:solidFill>
                <a:latin typeface="Aptos Mono"/>
                <a:ea typeface="Aptos Mono"/>
                <a:cs typeface="Aptos Mono"/>
              </a:rPr>
              <a:t>1:55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320C6-DE30-4E6D-86D9-1587C86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E9EA4-9B3B-436A-B33F-A34B6BEF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576CA-4B0A-4B31-A963-812421DE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Trust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65BEE-E462-4897-8822-4600133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Reasoning chain, Docling citation, validator, Guardian.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F2A58-A5E0-438E-A98F-6CEBFA8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C85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0C853"/>
                </a:solidFill>
                <a:latin typeface="Aptos Mono"/>
                <a:ea typeface="Aptos Mono"/>
                <a:cs typeface="Aptos Mono"/>
              </a:rPr>
              <a:t>2:22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81FE3-0ACB-488B-957E-948C87D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2FE2A-10B6-454B-9448-1847A7FE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8F1FD-586B-4B8A-A4B8-07640644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What-if + Fan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553A7-FE32-4065-955F-03A28F11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Counterfactual strategy and plain-language translation.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71E24F-2EAF-4830-9690-BB0CFF5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F6BFF"/>
                </a:solidFill>
                <a:latin typeface="Aptos Mono"/>
                <a:ea typeface="Aptos Mono"/>
                <a:cs typeface="Aptos Mono"/>
              </a:rPr>
              <a:t>2:42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A258C-03A6-42C6-A67D-78795731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516"/>
          </a:solidFill>
          <a:ln xmlns:a="http://schemas.openxmlformats.org/drawingml/2006/main" w="9525">
            <a:solidFill>
              <a:srgbClr val="30343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BF361-692A-4968-87D5-ECC6B17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81B84D-55E5-4CAB-BB1D-392CB2B2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F7F8"/>
                </a:solidFill>
                <a:latin typeface="Aptos Display"/>
                <a:ea typeface="Aptos Display"/>
                <a:cs typeface="Aptos Display"/>
              </a:rPr>
              <a:t>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BB626-FAF8-4CEF-B8C9-D51E800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Langflow, architecture, Jaeger, IBM stack.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47944-2D7C-4110-8F66-8B48AFBA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769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7F8"/>
                </a:solidFill>
                <a:latin typeface="Aptos"/>
                <a:ea typeface="Aptos"/>
                <a:cs typeface="Aptos"/>
              </a:rPr>
              <a:t>Closing line: OVERRIDE is explainable race-strategy AI for the 2026 hybrid era - decision support, never replacement.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8E2C81-C983-48EA-A291-C7857A8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37D85"/>
                </a:solidFill>
                <a:latin typeface="Aptos Mono"/>
                <a:ea typeface="Aptos Mono"/>
                <a:cs typeface="Aptos Mono"/>
              </a:rPr>
              <a:t>IBM SkillsBuild AI Builders Challenge - May 2026 / 08</a:t>
            </a:r>
          </a:p>
        </p:txBody>
      </p:sp>
    </p:spTree>
    <p:extLst>
      <p:ext uri="{BB962C8B-B14F-4D97-AF65-F5344CB8AC3E}">
        <p14:creationId xmlns:p14="http://schemas.microsoft.com/office/powerpoint/2010/main" val="2126369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2026-05-23T04:20:00.4720000Z</dcterms:created>
  <dcterms:modified xsi:type="dcterms:W3CDTF">2026-05-23T04:20:00.4720000Z</dcterms:modified>
</coreProperties>
</file>